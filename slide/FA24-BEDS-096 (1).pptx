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8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1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1.jpe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1.jpe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9590" y="1525905"/>
            <a:ext cx="1158494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Course Title: ECO346 - </a:t>
            </a: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</a:rPr>
              <a:t>Data Visualization Techniques for Economists</a:t>
            </a:r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9590" y="2543175"/>
            <a:ext cx="1170813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/>
              <a:t>Assignment</a:t>
            </a:r>
            <a:r>
              <a:rPr lang="en-US" sz="2400" b="1"/>
              <a:t> No</a:t>
            </a:r>
            <a:r>
              <a:rPr sz="2400" b="1"/>
              <a:t>:  </a:t>
            </a:r>
            <a:r>
              <a:rPr lang="en-US" sz="2400"/>
              <a:t>0</a:t>
            </a:r>
            <a:r>
              <a:rPr sz="2400"/>
              <a:t>1</a:t>
            </a:r>
            <a:endParaRPr sz="2400"/>
          </a:p>
        </p:txBody>
      </p:sp>
      <p:sp>
        <p:nvSpPr>
          <p:cNvPr id="8" name="Text Box 7"/>
          <p:cNvSpPr txBox="1"/>
          <p:nvPr/>
        </p:nvSpPr>
        <p:spPr>
          <a:xfrm>
            <a:off x="529590" y="3484880"/>
            <a:ext cx="1166241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b="1"/>
              <a:t>Name:  </a:t>
            </a:r>
            <a:r>
              <a:rPr lang="en-US" sz="2400"/>
              <a:t>Umar Farooq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529590" y="44262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sz="2400" b="1"/>
              <a:t>Registration No:  </a:t>
            </a:r>
            <a:r>
              <a:rPr lang="en-US" sz="2400"/>
              <a:t>FA24-BED-096</a:t>
            </a:r>
            <a:endParaRPr 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529590" y="5443855"/>
            <a:ext cx="1158494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b="1"/>
              <a:t>Variant:</a:t>
            </a:r>
            <a:r>
              <a:rPr lang="en-US" sz="2400"/>
              <a:t> </a:t>
            </a:r>
            <a:r>
              <a:rPr lang="en-US" altLang="en-US" sz="2400"/>
              <a:t>Punjab Rural (Variant 0)</a:t>
            </a:r>
            <a:endParaRPr lang="en-US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02895" y="688975"/>
            <a:ext cx="11080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800" b="1">
                <a:solidFill>
                  <a:schemeClr val="accent6"/>
                </a:solidFill>
              </a:rPr>
              <a:t>                  </a:t>
            </a:r>
            <a:r>
              <a:rPr sz="3600" b="1">
                <a:solidFill>
                  <a:schemeClr val="accent6"/>
                </a:solidFill>
              </a:rPr>
              <a:t>The Makeover: Default vs. Redesign</a:t>
            </a:r>
            <a:endParaRPr sz="3600" b="1">
              <a:solidFill>
                <a:schemeClr val="accent6"/>
              </a:solidFill>
            </a:endParaRPr>
          </a:p>
        </p:txBody>
      </p:sp>
      <p:pic>
        <p:nvPicPr>
          <p:cNvPr id="8" name="Picture 7" descr="defaul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945" y="1334135"/>
            <a:ext cx="4900930" cy="3676015"/>
          </a:xfrm>
          <a:prstGeom prst="rect">
            <a:avLst/>
          </a:prstGeom>
        </p:spPr>
      </p:pic>
      <p:pic>
        <p:nvPicPr>
          <p:cNvPr id="9" name="Picture 8" descr="literac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8450" y="1346200"/>
            <a:ext cx="4901565" cy="367601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648450" y="5205095"/>
            <a:ext cx="5080000" cy="1353185"/>
          </a:xfrm>
          <a:prstGeom prst="rect">
            <a:avLst/>
          </a:prstGeom>
        </p:spPr>
        <p:txBody>
          <a:bodyPr>
            <a:spAutoFit/>
          </a:bodyPr>
          <a:p>
            <a:r>
              <a:rPr b="1">
                <a:solidFill>
                  <a:schemeClr val="accent5">
                    <a:lumMod val="50000"/>
                  </a:schemeClr>
                </a:solidFill>
              </a:rPr>
              <a:t>Refined Visualization (literacy.svg)</a:t>
            </a:r>
            <a:endParaRPr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Aggregated by 5-year age bands with survey weights applied (hhweight).</a:t>
            </a:r>
            <a:endParaRPr sz="1600">
              <a:solidFill>
                <a:srgbClr val="FF0000"/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Direct gender labeling, hollow markers for thin cells, and clear trendlines.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48945" y="520509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>
                <a:solidFill>
                  <a:schemeClr val="accent5">
                    <a:lumMod val="50000"/>
                  </a:schemeClr>
                </a:solidFill>
              </a:rPr>
              <a:t>R Default Scatterplot (default.svg)</a:t>
            </a:r>
            <a:endParaRPr sz="1600"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Raw ggplot2 default settings with unweighted observations.</a:t>
            </a:r>
            <a:endParaRPr sz="1600">
              <a:solidFill>
                <a:srgbClr val="FF0000"/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Binary 0/1 points cause severe overplotting and obscure actual trends.</a:t>
            </a:r>
            <a:endParaRPr sz="1600">
              <a:solidFill>
                <a:srgbClr val="FF0000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2000" cy="6857365"/>
          </a:xfrm>
          <a:prstGeom prst="rect">
            <a:avLst/>
          </a:prstGeom>
        </p:spPr>
      </p:pic>
      <p:pic>
        <p:nvPicPr>
          <p:cNvPr id="6" name="Picture 5" descr="distribu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6015" y="1101725"/>
            <a:ext cx="6063615" cy="454787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35" y="485775"/>
            <a:ext cx="11791315" cy="567055"/>
          </a:xfrm>
          <a:prstGeom prst="rect">
            <a:avLst/>
          </a:prstGeom>
        </p:spPr>
        <p:txBody>
          <a:bodyPr>
            <a:noAutofit/>
          </a:bodyPr>
          <a:p>
            <a:pPr marL="914400" lvl="2" indent="457200"/>
            <a:r>
              <a:rPr sz="2000" b="1">
                <a:solidFill>
                  <a:schemeClr val="accent6"/>
                </a:solidFill>
              </a:rPr>
              <a:t>Annual Education Spending Varies Widely Among Rural Punjab Households</a:t>
            </a:r>
            <a:endParaRPr sz="2000" b="1">
              <a:solidFill>
                <a:schemeClr val="accent6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628775" y="5942330"/>
            <a:ext cx="7007225" cy="4292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1600" b="1"/>
              <a:t>                  </a:t>
            </a:r>
            <a:r>
              <a:rPr sz="1600" b="1"/>
              <a:t>Weighted median: Rs 15000 </a:t>
            </a:r>
            <a:r>
              <a:rPr lang="en-US" sz="1600" b="1"/>
              <a:t>|</a:t>
            </a:r>
            <a:r>
              <a:rPr sz="1600" b="1"/>
              <a:t> 90th percentile: Rs 60000</a:t>
            </a:r>
            <a:endParaRPr sz="1600" b="1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82975" y="396240"/>
            <a:ext cx="700341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>
                <a:solidFill>
                  <a:schemeClr val="accent6"/>
                </a:solidFill>
              </a:rPr>
              <a:t>Key Economic Findings &amp; Observations</a:t>
            </a:r>
            <a:endParaRPr sz="2400" b="1">
              <a:solidFill>
                <a:schemeClr val="accent6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089025" y="1543050"/>
            <a:ext cx="1110297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Gender Gap Trajectory:</a:t>
            </a:r>
            <a:r>
              <a:rPr sz="2000"/>
              <a:t>Older age cohorts (50+) show a massive literacy gap (39.3%), whereas younger rural Punjab cohorts (10–19) show significant gap narrowing.</a:t>
            </a:r>
            <a:endParaRPr sz="2000"/>
          </a:p>
        </p:txBody>
      </p:sp>
      <p:sp>
        <p:nvSpPr>
          <p:cNvPr id="12" name="Text Box 11"/>
          <p:cNvSpPr txBox="1"/>
          <p:nvPr/>
        </p:nvSpPr>
        <p:spPr>
          <a:xfrm>
            <a:off x="1052830" y="2928620"/>
            <a:ext cx="1101725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Education Spending Skewness:</a:t>
            </a:r>
            <a:r>
              <a:rPr lang="en-US" sz="1600"/>
              <a:t> </a:t>
            </a:r>
            <a:r>
              <a:rPr sz="2000"/>
              <a:t>Annual household education expenditure is heavily right-skewed; visualizing on a log scale reveals true spending dynamics across income groups.</a:t>
            </a:r>
            <a:endParaRPr sz="2000"/>
          </a:p>
        </p:txBody>
      </p:sp>
      <p:sp>
        <p:nvSpPr>
          <p:cNvPr id="13" name="Text Box 12"/>
          <p:cNvSpPr txBox="1"/>
          <p:nvPr/>
        </p:nvSpPr>
        <p:spPr>
          <a:xfrm>
            <a:off x="1088390" y="4501515"/>
            <a:ext cx="1098232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Methodological Consistency:</a:t>
            </a:r>
            <a:r>
              <a:rPr sz="2000"/>
              <a:t>Both R and Python (reticulate) implementations produce identical weighted estimates and band tables for Question 5.</a:t>
            </a:r>
            <a:endParaRPr sz="2000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386080"/>
            <a:ext cx="1211580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/>
              <a:t>                                                                   </a:t>
            </a:r>
            <a:r>
              <a:rPr sz="2400" b="1">
                <a:solidFill>
                  <a:schemeClr val="accent6"/>
                </a:solidFill>
              </a:rPr>
              <a:t>Summary &amp; Analytical Limitations</a:t>
            </a:r>
            <a:endParaRPr sz="2400" b="1">
              <a:solidFill>
                <a:schemeClr val="accent6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17245" y="1263015"/>
            <a:ext cx="10746105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sz="2200" b="1"/>
              <a:t>Summary &amp; Key Takeaways:</a:t>
            </a:r>
            <a:endParaRPr sz="2200" b="1"/>
          </a:p>
        </p:txBody>
      </p:sp>
      <p:sp>
        <p:nvSpPr>
          <p:cNvPr id="12" name="Text Box 11"/>
          <p:cNvSpPr txBox="1"/>
          <p:nvPr/>
        </p:nvSpPr>
        <p:spPr>
          <a:xfrm>
            <a:off x="1216660" y="1769745"/>
            <a:ext cx="1009650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000"/>
              <a:t>Applying survey weights (hhweight) is critical for population-representative insights; raw scatterplots misrepresent actual literacy trends.</a:t>
            </a:r>
            <a:endParaRPr sz="2000"/>
          </a:p>
        </p:txBody>
      </p:sp>
      <p:sp>
        <p:nvSpPr>
          <p:cNvPr id="13" name="Text Box 12"/>
          <p:cNvSpPr txBox="1"/>
          <p:nvPr/>
        </p:nvSpPr>
        <p:spPr>
          <a:xfrm>
            <a:off x="1115060" y="2722245"/>
            <a:ext cx="982535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Direct data labeling and high data-ink ratio significantly improve visual readability for policy decisions.</a:t>
            </a:r>
            <a:endParaRPr sz="2000"/>
          </a:p>
        </p:txBody>
      </p:sp>
      <p:sp>
        <p:nvSpPr>
          <p:cNvPr id="14" name="Text Box 13"/>
          <p:cNvSpPr txBox="1"/>
          <p:nvPr/>
        </p:nvSpPr>
        <p:spPr>
          <a:xfrm>
            <a:off x="817245" y="3731895"/>
            <a:ext cx="6031230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sz="2200" b="1">
                <a:solidFill>
                  <a:schemeClr val="tx1"/>
                </a:solidFill>
              </a:rPr>
              <a:t>Data &amp; Methodological Limitations:</a:t>
            </a:r>
            <a:endParaRPr sz="2200" b="1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84885" y="4308475"/>
            <a:ext cx="1085977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/>
              <a:t>Observational Cross-Section:</a:t>
            </a:r>
            <a:r>
              <a:rPr sz="2000"/>
              <a:t>PSLM 2019-20 data is cross-sectional, meaning we cannot directly infer individual-level literacy progression over time (cohort vs. aging effect).</a:t>
            </a:r>
            <a:endParaRPr sz="2000"/>
          </a:p>
        </p:txBody>
      </p:sp>
      <p:sp>
        <p:nvSpPr>
          <p:cNvPr id="16" name="Text Box 15"/>
          <p:cNvSpPr txBox="1"/>
          <p:nvPr/>
        </p:nvSpPr>
        <p:spPr>
          <a:xfrm>
            <a:off x="985520" y="5240020"/>
            <a:ext cx="1074610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Sample Size in Thin Cells:</a:t>
            </a:r>
            <a:r>
              <a:rPr sz="20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Small sample sizes (n &lt; 30) in older age bands introduce potential noise, which is why hollow markers are used to flag low confidence estimates.</a:t>
            </a:r>
            <a:endParaRPr sz="20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Presentation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Arial</vt:lpstr>
      <vt:lpstr>Google Sans Text</vt:lpstr>
      <vt:lpstr>Segoe Print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Aziz</dc:creator>
  <cp:lastModifiedBy>Umar Farooq</cp:lastModifiedBy>
  <cp:revision>5</cp:revision>
  <dcterms:created xsi:type="dcterms:W3CDTF">2026-10-23T15:35:00Z</dcterms:created>
  <dcterms:modified xsi:type="dcterms:W3CDTF">2026-10-26T14:07:06Z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A944E40FA9124109B209C5D5BB73EB12_13</vt:lpwstr>
  </property>
</Properties>
</file>