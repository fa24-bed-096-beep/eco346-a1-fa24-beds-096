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3.svg" ContentType="image/svg+xml"/>
  <Override PartName="/ppt/media/image5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1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16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65.xml"/><Relationship Id="rId3" Type="http://schemas.openxmlformats.org/officeDocument/2006/relationships/image" Target="../media/image1.jpeg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68.xml"/><Relationship Id="rId7" Type="http://schemas.openxmlformats.org/officeDocument/2006/relationships/image" Target="../media/image5.svg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Relationship Id="rId3" Type="http://schemas.openxmlformats.org/officeDocument/2006/relationships/image" Target="../media/image1.jpeg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71.xml"/><Relationship Id="rId3" Type="http://schemas.openxmlformats.org/officeDocument/2006/relationships/image" Target="../media/image1.jpeg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74.xml"/><Relationship Id="rId3" Type="http://schemas.openxmlformats.org/officeDocument/2006/relationships/image" Target="../media/image1.jpeg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736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529590" y="1525905"/>
            <a:ext cx="11584940" cy="46037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sz="2400" b="1">
                <a:solidFill>
                  <a:schemeClr val="tx1">
                    <a:lumMod val="95000"/>
                    <a:lumOff val="5000"/>
                  </a:schemeClr>
                </a:solidFill>
              </a:rPr>
              <a:t>Course Title: ECO346 - </a:t>
            </a:r>
            <a:r>
              <a:rPr sz="2400">
                <a:solidFill>
                  <a:schemeClr val="tx1">
                    <a:lumMod val="95000"/>
                    <a:lumOff val="5000"/>
                  </a:schemeClr>
                </a:solidFill>
              </a:rPr>
              <a:t>Data Visualization Techniques for Economists</a:t>
            </a:r>
            <a:endParaRPr sz="240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529590" y="2543175"/>
            <a:ext cx="11708130" cy="46037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sz="2400" b="1"/>
              <a:t>Assignment</a:t>
            </a:r>
            <a:r>
              <a:rPr lang="en-US" sz="2400" b="1"/>
              <a:t> No</a:t>
            </a:r>
            <a:r>
              <a:rPr sz="2400" b="1"/>
              <a:t>:  </a:t>
            </a:r>
            <a:r>
              <a:rPr lang="en-US" sz="2400"/>
              <a:t>0</a:t>
            </a:r>
            <a:r>
              <a:rPr sz="2400"/>
              <a:t>1</a:t>
            </a:r>
            <a:endParaRPr sz="2400"/>
          </a:p>
        </p:txBody>
      </p:sp>
      <p:sp>
        <p:nvSpPr>
          <p:cNvPr id="8" name="Text Box 7"/>
          <p:cNvSpPr txBox="1"/>
          <p:nvPr/>
        </p:nvSpPr>
        <p:spPr>
          <a:xfrm>
            <a:off x="529590" y="3484880"/>
            <a:ext cx="11662410" cy="46037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sz="2400" b="1"/>
              <a:t>Name:  </a:t>
            </a:r>
            <a:r>
              <a:rPr lang="en-US" sz="2400"/>
              <a:t>Umar Farooq</a:t>
            </a:r>
            <a:endParaRPr lang="en-US" sz="2400"/>
          </a:p>
        </p:txBody>
      </p:sp>
      <p:sp>
        <p:nvSpPr>
          <p:cNvPr id="9" name="Text Box 8"/>
          <p:cNvSpPr txBox="1"/>
          <p:nvPr/>
        </p:nvSpPr>
        <p:spPr>
          <a:xfrm>
            <a:off x="529590" y="4426268"/>
            <a:ext cx="5080000" cy="460375"/>
          </a:xfrm>
          <a:prstGeom prst="rect">
            <a:avLst/>
          </a:prstGeom>
        </p:spPr>
        <p:txBody>
          <a:bodyPr>
            <a:spAutoFit/>
          </a:bodyPr>
          <a:p>
            <a:r>
              <a:rPr lang="en-US" sz="2400" b="1"/>
              <a:t>Registration No:  </a:t>
            </a:r>
            <a:r>
              <a:rPr lang="en-US" sz="2400"/>
              <a:t>FA24-BED-096</a:t>
            </a:r>
            <a:endParaRPr lang="en-US" sz="2400"/>
          </a:p>
        </p:txBody>
      </p:sp>
      <p:sp>
        <p:nvSpPr>
          <p:cNvPr id="10" name="Text Box 9"/>
          <p:cNvSpPr txBox="1"/>
          <p:nvPr/>
        </p:nvSpPr>
        <p:spPr>
          <a:xfrm>
            <a:off x="529590" y="5443855"/>
            <a:ext cx="11584940" cy="46037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sz="2400" b="1"/>
              <a:t>Variant:</a:t>
            </a:r>
            <a:r>
              <a:rPr lang="en-US" sz="2400"/>
              <a:t> </a:t>
            </a:r>
            <a:r>
              <a:rPr lang="en-US" altLang="en-US" sz="2400"/>
              <a:t>Punjab Rural (Variant 0)</a:t>
            </a:r>
            <a:endParaRPr lang="en-US" altLang="en-US" sz="2400"/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-10160"/>
            <a:ext cx="12192000" cy="6857365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302895" y="688975"/>
            <a:ext cx="11080115" cy="64516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sz="2800" b="1">
                <a:solidFill>
                  <a:schemeClr val="accent6"/>
                </a:solidFill>
              </a:rPr>
              <a:t>                  </a:t>
            </a:r>
            <a:r>
              <a:rPr sz="3600" b="1">
                <a:solidFill>
                  <a:schemeClr val="accent6"/>
                </a:solidFill>
              </a:rPr>
              <a:t>The Makeover: Default vs. Redesign</a:t>
            </a:r>
            <a:endParaRPr sz="3600" b="1">
              <a:solidFill>
                <a:schemeClr val="accent6"/>
              </a:solidFill>
            </a:endParaRPr>
          </a:p>
        </p:txBody>
      </p:sp>
      <p:pic>
        <p:nvPicPr>
          <p:cNvPr id="8" name="Picture 7" descr="default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8945" y="1334135"/>
            <a:ext cx="4900930" cy="3676015"/>
          </a:xfrm>
          <a:prstGeom prst="rect">
            <a:avLst/>
          </a:prstGeom>
        </p:spPr>
      </p:pic>
      <p:pic>
        <p:nvPicPr>
          <p:cNvPr id="9" name="Picture 8" descr="literacy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48450" y="1346200"/>
            <a:ext cx="4901565" cy="3676015"/>
          </a:xfrm>
          <a:prstGeom prst="rect">
            <a:avLst/>
          </a:prstGeom>
        </p:spPr>
      </p:pic>
      <p:sp>
        <p:nvSpPr>
          <p:cNvPr id="11" name="Text Box 10"/>
          <p:cNvSpPr txBox="1"/>
          <p:nvPr/>
        </p:nvSpPr>
        <p:spPr>
          <a:xfrm>
            <a:off x="6648450" y="5205095"/>
            <a:ext cx="5080000" cy="1353185"/>
          </a:xfrm>
          <a:prstGeom prst="rect">
            <a:avLst/>
          </a:prstGeom>
        </p:spPr>
        <p:txBody>
          <a:bodyPr>
            <a:spAutoFit/>
          </a:bodyPr>
          <a:p>
            <a:r>
              <a:rPr b="1">
                <a:solidFill>
                  <a:schemeClr val="accent5">
                    <a:lumMod val="50000"/>
                  </a:schemeClr>
                </a:solidFill>
              </a:rPr>
              <a:t>Refined Visualization (literacy.svg)</a:t>
            </a:r>
            <a:endParaRPr b="1">
              <a:solidFill>
                <a:schemeClr val="accent5">
                  <a:lumMod val="50000"/>
                </a:schemeClr>
              </a:solidFill>
            </a:endParaRPr>
          </a:p>
          <a:p>
            <a:pPr>
              <a:buFont typeface="Arial" panose="020B0604020202020204"/>
              <a:buChar char="•"/>
            </a:pPr>
            <a:r>
              <a:rPr sz="1600">
                <a:solidFill>
                  <a:srgbClr val="FF0000"/>
                </a:solidFill>
              </a:rPr>
              <a:t>Aggregated by 5-year age bands with survey weights applied (hhweight).</a:t>
            </a:r>
            <a:endParaRPr sz="1600">
              <a:solidFill>
                <a:srgbClr val="FF0000"/>
              </a:solidFill>
            </a:endParaRPr>
          </a:p>
          <a:p>
            <a:pPr>
              <a:buFont typeface="Arial" panose="020B0604020202020204"/>
              <a:buChar char="•"/>
            </a:pPr>
            <a:r>
              <a:rPr sz="1600">
                <a:solidFill>
                  <a:srgbClr val="FF0000"/>
                </a:solidFill>
              </a:rPr>
              <a:t>Direct gender labeling, hollow markers for thin cells, and clear trendlines.</a:t>
            </a:r>
            <a:endParaRPr sz="1600">
              <a:solidFill>
                <a:srgbClr val="FF0000"/>
              </a:solidFill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448945" y="5205095"/>
            <a:ext cx="5080000" cy="1322070"/>
          </a:xfrm>
          <a:prstGeom prst="rect">
            <a:avLst/>
          </a:prstGeom>
        </p:spPr>
        <p:txBody>
          <a:bodyPr>
            <a:spAutoFit/>
          </a:bodyPr>
          <a:p>
            <a:r>
              <a:rPr sz="1600" b="1">
                <a:solidFill>
                  <a:schemeClr val="accent5">
                    <a:lumMod val="50000"/>
                  </a:schemeClr>
                </a:solidFill>
              </a:rPr>
              <a:t>R Default Scatterplot (default.svg)</a:t>
            </a:r>
            <a:endParaRPr sz="1600" b="1">
              <a:solidFill>
                <a:schemeClr val="accent5">
                  <a:lumMod val="50000"/>
                </a:schemeClr>
              </a:solidFill>
            </a:endParaRPr>
          </a:p>
          <a:p>
            <a:pPr>
              <a:buFont typeface="Arial" panose="020B0604020202020204"/>
              <a:buChar char="•"/>
            </a:pPr>
            <a:r>
              <a:rPr sz="1600">
                <a:solidFill>
                  <a:srgbClr val="FF0000"/>
                </a:solidFill>
              </a:rPr>
              <a:t>Raw ggplot2 default settings with unweighted observations.</a:t>
            </a:r>
            <a:endParaRPr sz="1600">
              <a:solidFill>
                <a:srgbClr val="FF0000"/>
              </a:solidFill>
            </a:endParaRPr>
          </a:p>
          <a:p>
            <a:pPr>
              <a:buFont typeface="Arial" panose="020B0604020202020204"/>
              <a:buChar char="•"/>
            </a:pPr>
            <a:r>
              <a:rPr sz="1600">
                <a:solidFill>
                  <a:srgbClr val="FF0000"/>
                </a:solidFill>
              </a:rPr>
              <a:t>Binary 0/1 points cause severe overplotting and obscure actual trends.</a:t>
            </a:r>
            <a:endParaRPr sz="1600">
              <a:solidFill>
                <a:srgbClr val="FF0000"/>
              </a:solidFill>
            </a:endParaRPr>
          </a:p>
        </p:txBody>
      </p:sp>
    </p:spTree>
    <p:custDataLst>
      <p:tags r:id="rId8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7365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3482975" y="396240"/>
            <a:ext cx="7003415" cy="46037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sz="2400" b="1">
                <a:solidFill>
                  <a:schemeClr val="accent6"/>
                </a:solidFill>
              </a:rPr>
              <a:t>Key Economic Findings &amp; Observations</a:t>
            </a:r>
            <a:endParaRPr sz="2400" b="1">
              <a:solidFill>
                <a:schemeClr val="accent6"/>
              </a:solidFill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1089025" y="1543050"/>
            <a:ext cx="11102975" cy="70675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sz="2000" b="1"/>
              <a:t>Gender Gap Trajectory:</a:t>
            </a:r>
            <a:r>
              <a:rPr sz="2000"/>
              <a:t>Older age cohorts (50+) show a massive literacy gap (39.3%), whereas younger rural Punjab cohorts (10–19) show significant gap narrowing.</a:t>
            </a:r>
            <a:endParaRPr sz="2000"/>
          </a:p>
        </p:txBody>
      </p:sp>
      <p:sp>
        <p:nvSpPr>
          <p:cNvPr id="12" name="Text Box 11"/>
          <p:cNvSpPr txBox="1"/>
          <p:nvPr/>
        </p:nvSpPr>
        <p:spPr>
          <a:xfrm>
            <a:off x="1052830" y="2928620"/>
            <a:ext cx="11017250" cy="70675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sz="2000" b="1"/>
              <a:t>Education Spending Skewness:</a:t>
            </a:r>
            <a:r>
              <a:rPr lang="en-US" sz="1600"/>
              <a:t> </a:t>
            </a:r>
            <a:r>
              <a:rPr sz="2000"/>
              <a:t>Annual household education expenditure is heavily right-skewed; visualizing on a log scale reveals true spending dynamics across income groups.</a:t>
            </a:r>
            <a:endParaRPr sz="2000"/>
          </a:p>
        </p:txBody>
      </p:sp>
      <p:sp>
        <p:nvSpPr>
          <p:cNvPr id="13" name="Text Box 12"/>
          <p:cNvSpPr txBox="1"/>
          <p:nvPr/>
        </p:nvSpPr>
        <p:spPr>
          <a:xfrm>
            <a:off x="1088390" y="4501515"/>
            <a:ext cx="10982325" cy="70675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sz="2000" b="1"/>
              <a:t>Methodological Consistency:</a:t>
            </a:r>
            <a:r>
              <a:rPr sz="2000"/>
              <a:t>Both R and Python (reticulate) implementations produce identical weighted estimates and band tables for Question 5.</a:t>
            </a:r>
            <a:endParaRPr sz="2000"/>
          </a:p>
        </p:txBody>
      </p:sp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7365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0" y="386080"/>
            <a:ext cx="12115800" cy="46037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sz="1600"/>
              <a:t>                                                                   </a:t>
            </a:r>
            <a:r>
              <a:rPr sz="2400" b="1">
                <a:solidFill>
                  <a:schemeClr val="accent6"/>
                </a:solidFill>
              </a:rPr>
              <a:t>Summary &amp; Analytical Limitations</a:t>
            </a:r>
            <a:endParaRPr sz="2400" b="1">
              <a:solidFill>
                <a:schemeClr val="accent6"/>
              </a:solidFill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817245" y="1263015"/>
            <a:ext cx="10746105" cy="429895"/>
          </a:xfrm>
          <a:prstGeom prst="rect">
            <a:avLst/>
          </a:prstGeom>
        </p:spPr>
        <p:txBody>
          <a:bodyPr wrap="square">
            <a:spAutoFit/>
          </a:bodyPr>
          <a:p>
            <a:pPr marL="342900" indent="-342900">
              <a:buFont typeface="Wingdings" panose="05000000000000000000" charset="0"/>
              <a:buChar char="q"/>
            </a:pPr>
            <a:r>
              <a:rPr sz="2200" b="1"/>
              <a:t>Summary &amp; Key Takeaways:</a:t>
            </a:r>
            <a:endParaRPr sz="2200" b="1"/>
          </a:p>
        </p:txBody>
      </p:sp>
      <p:sp>
        <p:nvSpPr>
          <p:cNvPr id="12" name="Text Box 11"/>
          <p:cNvSpPr txBox="1"/>
          <p:nvPr/>
        </p:nvSpPr>
        <p:spPr>
          <a:xfrm>
            <a:off x="1216660" y="1769745"/>
            <a:ext cx="10096500" cy="706755"/>
          </a:xfrm>
          <a:prstGeom prst="rect">
            <a:avLst/>
          </a:prstGeom>
        </p:spPr>
        <p:txBody>
          <a:bodyPr wrap="square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sz="2000"/>
              <a:t>Applying survey weights (hhweight) is critical for population-representative insights; raw scatterplots misrepresent actual literacy trends.</a:t>
            </a:r>
            <a:endParaRPr sz="2000"/>
          </a:p>
        </p:txBody>
      </p:sp>
      <p:sp>
        <p:nvSpPr>
          <p:cNvPr id="13" name="Text Box 12"/>
          <p:cNvSpPr txBox="1"/>
          <p:nvPr/>
        </p:nvSpPr>
        <p:spPr>
          <a:xfrm>
            <a:off x="1115060" y="2722245"/>
            <a:ext cx="9825355" cy="706755"/>
          </a:xfrm>
          <a:prstGeom prst="rect">
            <a:avLst/>
          </a:prstGeom>
        </p:spPr>
        <p:txBody>
          <a:bodyPr wrap="square">
            <a:sp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sz="2000"/>
              <a:t>Direct data labeling and high data-ink ratio significantly improve visual readability for policy decisions.</a:t>
            </a:r>
            <a:endParaRPr sz="2000"/>
          </a:p>
        </p:txBody>
      </p:sp>
      <p:sp>
        <p:nvSpPr>
          <p:cNvPr id="14" name="Text Box 13"/>
          <p:cNvSpPr txBox="1"/>
          <p:nvPr/>
        </p:nvSpPr>
        <p:spPr>
          <a:xfrm>
            <a:off x="817245" y="3731895"/>
            <a:ext cx="6031230" cy="429895"/>
          </a:xfrm>
          <a:prstGeom prst="rect">
            <a:avLst/>
          </a:prstGeom>
        </p:spPr>
        <p:txBody>
          <a:bodyPr wrap="square">
            <a:spAutoFit/>
          </a:bodyPr>
          <a:p>
            <a:pPr marL="342900" indent="-342900">
              <a:buFont typeface="Wingdings" panose="05000000000000000000" charset="0"/>
              <a:buChar char="q"/>
            </a:pPr>
            <a:r>
              <a:rPr sz="2200" b="1">
                <a:solidFill>
                  <a:schemeClr val="tx1"/>
                </a:solidFill>
              </a:rPr>
              <a:t>Data &amp; Methodological Limitations:</a:t>
            </a:r>
            <a:endParaRPr sz="2200" b="1">
              <a:solidFill>
                <a:schemeClr val="tx1"/>
              </a:solidFill>
            </a:endParaRPr>
          </a:p>
        </p:txBody>
      </p:sp>
      <p:sp>
        <p:nvSpPr>
          <p:cNvPr id="15" name="Text Box 14"/>
          <p:cNvSpPr txBox="1"/>
          <p:nvPr/>
        </p:nvSpPr>
        <p:spPr>
          <a:xfrm>
            <a:off x="984885" y="4308475"/>
            <a:ext cx="10859770" cy="706755"/>
          </a:xfrm>
          <a:prstGeom prst="rect">
            <a:avLst/>
          </a:prstGeom>
        </p:spPr>
        <p:txBody>
          <a:bodyPr wrap="square">
            <a:sp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sz="2000" b="1"/>
              <a:t>Observational Cross-Section:</a:t>
            </a:r>
            <a:r>
              <a:rPr sz="2000"/>
              <a:t>PSLM 2019-20 data is cross-sectional, meaning we cannot directly infer individual-level literacy progression over time (cohort vs. aging effect).</a:t>
            </a:r>
            <a:endParaRPr sz="2000"/>
          </a:p>
        </p:txBody>
      </p:sp>
      <p:sp>
        <p:nvSpPr>
          <p:cNvPr id="16" name="Text Box 15"/>
          <p:cNvSpPr txBox="1"/>
          <p:nvPr/>
        </p:nvSpPr>
        <p:spPr>
          <a:xfrm>
            <a:off x="985520" y="5240020"/>
            <a:ext cx="10746105" cy="706755"/>
          </a:xfrm>
          <a:prstGeom prst="rect">
            <a:avLst/>
          </a:prstGeom>
        </p:spPr>
        <p:txBody>
          <a:bodyPr wrap="square">
            <a:spAutoFit/>
          </a:bodyPr>
          <a:p>
            <a:pPr marL="342900" indent="-3429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sz="2000" b="1">
                <a:latin typeface="Arial" panose="020B0604020202020204" pitchFamily="34" charset="0"/>
                <a:ea typeface="Google Sans Text"/>
                <a:cs typeface="Arial" panose="020B0604020202020204" pitchFamily="34" charset="0"/>
              </a:rPr>
              <a:t>Sample Size in Thin Cells:</a:t>
            </a:r>
            <a:r>
              <a:rPr sz="2000">
                <a:latin typeface="Arial" panose="020B0604020202020204" pitchFamily="34" charset="0"/>
                <a:ea typeface="Google Sans Text"/>
                <a:cs typeface="Arial" panose="020B0604020202020204" pitchFamily="34" charset="0"/>
              </a:rPr>
              <a:t>Small sample sizes (n &lt; 30) in older age bands introduce potential noise, which is why hollow markers are used to flag low confidence estimates.</a:t>
            </a:r>
            <a:endParaRPr sz="2000">
              <a:latin typeface="Arial" panose="020B0604020202020204" pitchFamily="34" charset="0"/>
              <a:ea typeface="Google Sans Text"/>
              <a:cs typeface="Arial" panose="020B0604020202020204" pitchFamily="34" charset="0"/>
            </a:endParaRPr>
          </a:p>
        </p:txBody>
      </p:sp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1819</Words>
  <Application>WPS Presentation</Application>
  <PresentationFormat>Widescreen</PresentationFormat>
  <Paragraphs>42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5" baseType="lpstr">
      <vt:lpstr>Arial</vt:lpstr>
      <vt:lpstr>SimSun</vt:lpstr>
      <vt:lpstr>Wingdings</vt:lpstr>
      <vt:lpstr>Wingdings</vt:lpstr>
      <vt:lpstr>Microsoft YaHei</vt:lpstr>
      <vt:lpstr>Arial Unicode MS</vt:lpstr>
      <vt:lpstr>Calibri</vt:lpstr>
      <vt:lpstr>Arial</vt:lpstr>
      <vt:lpstr>Google Sans Text</vt:lpstr>
      <vt:lpstr>Segoe Print</vt:lpstr>
      <vt:lpstr>WPS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Blank Presentation</dc:title>
  <dc:creator>Aziz</dc:creator>
  <cp:lastModifiedBy>Umar Farooq</cp:lastModifiedBy>
  <cp:revision>4</cp:revision>
  <dcterms:created xsi:type="dcterms:W3CDTF">2026-10-23T15:35:00Z</dcterms:created>
  <dcterms:modified xsi:type="dcterms:W3CDTF">2026-10-23T16:36:33Z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1033-12.1.0.29162</vt:lpwstr>
  </property>
  <property fmtid="{D5CDD505-2E9C-101B-9397-08002B2CF9AE}" pid="3" name="ICV">
    <vt:lpwstr>A944E40FA9124109B209C5D5BB73EB12_13</vt:lpwstr>
  </property>
</Properties>
</file>